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ileron" panose="020B0604020202020204" charset="0"/>
      <p:regular r:id="rId19"/>
    </p:embeddedFont>
    <p:embeddedFont>
      <p:font typeface="Aileron Bold" panose="020B0604020202020204" charset="0"/>
      <p:regular r:id="rId20"/>
    </p:embeddedFont>
    <p:embeddedFont>
      <p:font typeface="Aileron Bold Italics" panose="020B0604020202020204" charset="0"/>
      <p:regular r:id="rId21"/>
    </p:embeddedFont>
    <p:embeddedFont>
      <p:font typeface="Aileron Italics" panose="020B0604020202020204" charset="0"/>
      <p:regular r:id="rId22"/>
    </p:embeddedFont>
    <p:embeddedFont>
      <p:font typeface="Arimo" panose="020B0604020202020204" charset="0"/>
      <p:regular r:id="rId23"/>
    </p:embeddedFont>
    <p:embeddedFont>
      <p:font typeface="Arimo Bold" panose="020B0604020202020204" charset="0"/>
      <p:regular r:id="rId24"/>
    </p:embeddedFont>
    <p:embeddedFont>
      <p:font typeface="Canva Sans" panose="020B0604020202020204" charset="0"/>
      <p:regular r:id="rId25"/>
    </p:embeddedFont>
    <p:embeddedFont>
      <p:font typeface="Canva Sans Bold" panose="020B0604020202020204" charset="0"/>
      <p:regular r:id="rId26"/>
    </p:embeddedFont>
    <p:embeddedFont>
      <p:font typeface="Glacial Indifference" panose="020B0604020202020204" charset="0"/>
      <p:regular r:id="rId27"/>
    </p:embeddedFont>
    <p:embeddedFont>
      <p:font typeface="Lovelo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SivaRishitha/Adaptive-Optics/blob/main/DM_MATRIX.ipynb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SivaRishitha/Adaptive-Optics/blob/main/Results.m" TargetMode="Externa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17199" y="240012"/>
            <a:ext cx="568747" cy="109154"/>
            <a:chOff x="0" y="0"/>
            <a:chExt cx="151634" cy="291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634" cy="29102"/>
            </a:xfrm>
            <a:custGeom>
              <a:avLst/>
              <a:gdLst/>
              <a:ahLst/>
              <a:cxnLst/>
              <a:rect l="l" t="t" r="r" b="b"/>
              <a:pathLst>
                <a:path w="151634" h="29102">
                  <a:moveTo>
                    <a:pt x="0" y="0"/>
                  </a:moveTo>
                  <a:lnTo>
                    <a:pt x="151634" y="0"/>
                  </a:lnTo>
                  <a:lnTo>
                    <a:pt x="151634" y="29102"/>
                  </a:lnTo>
                  <a:lnTo>
                    <a:pt x="0" y="291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1634" cy="67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17199" y="558138"/>
            <a:ext cx="568747" cy="109154"/>
            <a:chOff x="0" y="0"/>
            <a:chExt cx="151634" cy="291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1634" cy="29102"/>
            </a:xfrm>
            <a:custGeom>
              <a:avLst/>
              <a:gdLst/>
              <a:ahLst/>
              <a:cxnLst/>
              <a:rect l="l" t="t" r="r" b="b"/>
              <a:pathLst>
                <a:path w="151634" h="29102">
                  <a:moveTo>
                    <a:pt x="0" y="0"/>
                  </a:moveTo>
                  <a:lnTo>
                    <a:pt x="151634" y="0"/>
                  </a:lnTo>
                  <a:lnTo>
                    <a:pt x="151634" y="29102"/>
                  </a:lnTo>
                  <a:lnTo>
                    <a:pt x="0" y="291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1634" cy="67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358081" y="3340355"/>
            <a:ext cx="18588852" cy="8229600"/>
          </a:xfrm>
          <a:custGeom>
            <a:avLst/>
            <a:gdLst/>
            <a:ahLst/>
            <a:cxnLst/>
            <a:rect l="l" t="t" r="r" b="b"/>
            <a:pathLst>
              <a:path w="18588852" h="8229600">
                <a:moveTo>
                  <a:pt x="0" y="0"/>
                </a:moveTo>
                <a:lnTo>
                  <a:pt x="18588852" y="0"/>
                </a:lnTo>
                <a:lnTo>
                  <a:pt x="185888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2633" b="-52633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316711"/>
            <a:ext cx="12932902" cy="4370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24"/>
              </a:lnSpc>
            </a:pPr>
            <a:r>
              <a:rPr lang="en-US" sz="12517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DEFORMABLE</a:t>
            </a:r>
          </a:p>
          <a:p>
            <a:pPr algn="l">
              <a:lnSpc>
                <a:spcPts val="17524"/>
              </a:lnSpc>
              <a:spcBef>
                <a:spcPct val="0"/>
              </a:spcBef>
            </a:pPr>
            <a:r>
              <a:rPr lang="en-US" sz="12517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MIRROR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77980" y="1662335"/>
            <a:ext cx="4713701" cy="1032273"/>
            <a:chOff x="0" y="0"/>
            <a:chExt cx="1952042" cy="4274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2042" cy="427486"/>
            </a:xfrm>
            <a:custGeom>
              <a:avLst/>
              <a:gdLst/>
              <a:ahLst/>
              <a:cxnLst/>
              <a:rect l="l" t="t" r="r" b="b"/>
              <a:pathLst>
                <a:path w="1952042" h="427486">
                  <a:moveTo>
                    <a:pt x="1748842" y="0"/>
                  </a:moveTo>
                  <a:cubicBezTo>
                    <a:pt x="1861066" y="0"/>
                    <a:pt x="1952042" y="95696"/>
                    <a:pt x="1952042" y="213743"/>
                  </a:cubicBezTo>
                  <a:cubicBezTo>
                    <a:pt x="1952042" y="331790"/>
                    <a:pt x="1861066" y="427486"/>
                    <a:pt x="1748842" y="427486"/>
                  </a:cubicBezTo>
                  <a:lnTo>
                    <a:pt x="203200" y="427486"/>
                  </a:lnTo>
                  <a:cubicBezTo>
                    <a:pt x="90976" y="427486"/>
                    <a:pt x="0" y="331790"/>
                    <a:pt x="0" y="213743"/>
                  </a:cubicBezTo>
                  <a:cubicBezTo>
                    <a:pt x="0" y="956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86EAE9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952042" cy="408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60"/>
                </a:lnSpc>
                <a:spcBef>
                  <a:spcPct val="0"/>
                </a:spcBef>
              </a:pPr>
              <a:r>
                <a:rPr lang="en-US" sz="2600" b="1" spc="78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DEFORMABLE MIRROR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92208" y="2694608"/>
            <a:ext cx="8648354" cy="7778595"/>
          </a:xfrm>
          <a:custGeom>
            <a:avLst/>
            <a:gdLst/>
            <a:ahLst/>
            <a:cxnLst/>
            <a:rect l="l" t="t" r="r" b="b"/>
            <a:pathLst>
              <a:path w="8648354" h="7778595">
                <a:moveTo>
                  <a:pt x="0" y="0"/>
                </a:moveTo>
                <a:lnTo>
                  <a:pt x="8648354" y="0"/>
                </a:lnTo>
                <a:lnTo>
                  <a:pt x="8648354" y="7778596"/>
                </a:lnTo>
                <a:lnTo>
                  <a:pt x="0" y="7778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707324" y="8570604"/>
            <a:ext cx="1091228" cy="109122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833611" y="8552593"/>
            <a:ext cx="3762202" cy="1091228"/>
            <a:chOff x="0" y="0"/>
            <a:chExt cx="1981276" cy="5746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52400" y="-76200"/>
              <a:ext cx="1676476" cy="650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49"/>
                </a:lnSpc>
              </a:pPr>
              <a:r>
                <a:rPr lang="en-US" sz="26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Fillet Radius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707324" y="6985135"/>
            <a:ext cx="1091228" cy="109122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833611" y="6967124"/>
            <a:ext cx="3762202" cy="1091228"/>
            <a:chOff x="0" y="0"/>
            <a:chExt cx="1981276" cy="5746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52400" y="-76200"/>
              <a:ext cx="1676476" cy="650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049"/>
                </a:lnSpc>
              </a:pPr>
              <a:r>
                <a:rPr lang="en-US" sz="26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Actuator Contact diameter (OACD)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707324" y="5399646"/>
            <a:ext cx="1091228" cy="1091228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33611" y="5381635"/>
            <a:ext cx="3762202" cy="1091228"/>
            <a:chOff x="0" y="0"/>
            <a:chExt cx="1981276" cy="5746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52400" y="-76200"/>
              <a:ext cx="1676476" cy="650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49"/>
                </a:lnSpc>
              </a:pPr>
              <a:r>
                <a:rPr lang="en-US" sz="26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Thickness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707324" y="3814157"/>
            <a:ext cx="1091228" cy="1091228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833611" y="3796146"/>
            <a:ext cx="3762202" cy="1091228"/>
            <a:chOff x="0" y="0"/>
            <a:chExt cx="1981276" cy="5746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52400" y="-76200"/>
              <a:ext cx="1676476" cy="650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49"/>
                </a:lnSpc>
              </a:pPr>
              <a:r>
                <a:rPr lang="en-US" sz="26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Inner Diameter       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707324" y="2228668"/>
            <a:ext cx="1091228" cy="1091228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833611" y="2190568"/>
            <a:ext cx="3762202" cy="1091228"/>
            <a:chOff x="0" y="0"/>
            <a:chExt cx="1981276" cy="57467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152400" y="-76200"/>
              <a:ext cx="1676476" cy="650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49"/>
                </a:lnSpc>
              </a:pPr>
              <a:r>
                <a:rPr lang="en-US" sz="26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Arm Angle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707324" y="643179"/>
            <a:ext cx="1091228" cy="1091228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833611" y="625168"/>
            <a:ext cx="3762202" cy="1091228"/>
            <a:chOff x="0" y="0"/>
            <a:chExt cx="1981276" cy="57467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152400" y="-76200"/>
              <a:ext cx="1676476" cy="650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49"/>
                </a:lnSpc>
              </a:pPr>
              <a:r>
                <a:rPr lang="en-US" sz="26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Arm Length</a:t>
              </a:r>
            </a:p>
          </p:txBody>
        </p:sp>
      </p:grpSp>
      <p:sp>
        <p:nvSpPr>
          <p:cNvPr id="42" name="AutoShape 42"/>
          <p:cNvSpPr/>
          <p:nvPr/>
        </p:nvSpPr>
        <p:spPr>
          <a:xfrm flipV="1">
            <a:off x="4516385" y="1175390"/>
            <a:ext cx="8317226" cy="3387141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43" name="AutoShape 43"/>
          <p:cNvSpPr/>
          <p:nvPr/>
        </p:nvSpPr>
        <p:spPr>
          <a:xfrm flipV="1">
            <a:off x="6238807" y="2694608"/>
            <a:ext cx="6594804" cy="2278935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44" name="AutoShape 44"/>
          <p:cNvSpPr/>
          <p:nvPr/>
        </p:nvSpPr>
        <p:spPr>
          <a:xfrm flipV="1">
            <a:off x="5844538" y="4331430"/>
            <a:ext cx="6989072" cy="2252476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45" name="AutoShape 45"/>
          <p:cNvSpPr/>
          <p:nvPr/>
        </p:nvSpPr>
        <p:spPr>
          <a:xfrm>
            <a:off x="7861460" y="6496527"/>
            <a:ext cx="4972151" cy="1016142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46" name="AutoShape 46"/>
          <p:cNvSpPr/>
          <p:nvPr/>
        </p:nvSpPr>
        <p:spPr>
          <a:xfrm>
            <a:off x="6376971" y="7836960"/>
            <a:ext cx="6456640" cy="1302331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47" name="Freeform 47"/>
          <p:cNvSpPr/>
          <p:nvPr/>
        </p:nvSpPr>
        <p:spPr>
          <a:xfrm>
            <a:off x="7764516" y="6407656"/>
            <a:ext cx="332856" cy="332856"/>
          </a:xfrm>
          <a:custGeom>
            <a:avLst/>
            <a:gdLst/>
            <a:ahLst/>
            <a:cxnLst/>
            <a:rect l="l" t="t" r="r" b="b"/>
            <a:pathLst>
              <a:path w="332856" h="332856">
                <a:moveTo>
                  <a:pt x="0" y="0"/>
                </a:moveTo>
                <a:lnTo>
                  <a:pt x="332856" y="0"/>
                </a:lnTo>
                <a:lnTo>
                  <a:pt x="332856" y="332857"/>
                </a:lnTo>
                <a:lnTo>
                  <a:pt x="0" y="3328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554693" y="249238"/>
            <a:ext cx="6236989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PARAMETERS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4497335" y="2960788"/>
            <a:ext cx="3452659" cy="5101501"/>
            <a:chOff x="0" y="0"/>
            <a:chExt cx="4603545" cy="6802001"/>
          </a:xfrm>
        </p:grpSpPr>
        <p:sp>
          <p:nvSpPr>
            <p:cNvPr id="50" name="AutoShape 50"/>
            <p:cNvSpPr/>
            <p:nvPr/>
          </p:nvSpPr>
          <p:spPr>
            <a:xfrm flipV="1">
              <a:off x="25400" y="0"/>
              <a:ext cx="0" cy="483082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51" name="Freeform 51"/>
            <p:cNvSpPr/>
            <p:nvPr/>
          </p:nvSpPr>
          <p:spPr>
            <a:xfrm rot="4335104">
              <a:off x="1755701" y="2531646"/>
              <a:ext cx="715956" cy="437384"/>
            </a:xfrm>
            <a:custGeom>
              <a:avLst/>
              <a:gdLst/>
              <a:ahLst/>
              <a:cxnLst/>
              <a:rect l="l" t="t" r="r" b="b"/>
              <a:pathLst>
                <a:path w="715956" h="437384">
                  <a:moveTo>
                    <a:pt x="0" y="0"/>
                  </a:moveTo>
                  <a:lnTo>
                    <a:pt x="715956" y="0"/>
                  </a:lnTo>
                  <a:lnTo>
                    <a:pt x="715956" y="437385"/>
                  </a:lnTo>
                  <a:lnTo>
                    <a:pt x="0" y="437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2" name="AutoShape 52"/>
            <p:cNvSpPr/>
            <p:nvPr/>
          </p:nvSpPr>
          <p:spPr>
            <a:xfrm>
              <a:off x="25400" y="4830823"/>
              <a:ext cx="2735040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53" name="AutoShape 53"/>
            <p:cNvSpPr/>
            <p:nvPr/>
          </p:nvSpPr>
          <p:spPr>
            <a:xfrm flipV="1">
              <a:off x="4578145" y="4595824"/>
              <a:ext cx="0" cy="443808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triangle" w="lg" len="med"/>
              <a:tailEnd type="arrow" w="med" len="sm"/>
            </a:ln>
          </p:spPr>
        </p:sp>
        <p:sp>
          <p:nvSpPr>
            <p:cNvPr id="54" name="Freeform 54"/>
            <p:cNvSpPr/>
            <p:nvPr/>
          </p:nvSpPr>
          <p:spPr>
            <a:xfrm rot="-3484588">
              <a:off x="2033860" y="6288400"/>
              <a:ext cx="576205" cy="352009"/>
            </a:xfrm>
            <a:custGeom>
              <a:avLst/>
              <a:gdLst/>
              <a:ahLst/>
              <a:cxnLst/>
              <a:rect l="l" t="t" r="r" b="b"/>
              <a:pathLst>
                <a:path w="576205" h="352009">
                  <a:moveTo>
                    <a:pt x="0" y="0"/>
                  </a:moveTo>
                  <a:lnTo>
                    <a:pt x="576205" y="0"/>
                  </a:lnTo>
                  <a:lnTo>
                    <a:pt x="576205" y="352009"/>
                  </a:lnTo>
                  <a:lnTo>
                    <a:pt x="0" y="352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5" name="TextBox 55"/>
          <p:cNvSpPr txBox="1"/>
          <p:nvPr/>
        </p:nvSpPr>
        <p:spPr>
          <a:xfrm>
            <a:off x="10450206" y="5575052"/>
            <a:ext cx="2383404" cy="59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7"/>
              </a:lnSpc>
            </a:pPr>
            <a:r>
              <a:rPr lang="en-US" sz="3298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0.201mm 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8712" y="1121008"/>
            <a:ext cx="6498419" cy="2568075"/>
            <a:chOff x="0" y="0"/>
            <a:chExt cx="8664559" cy="34241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319759"/>
              <a:ext cx="4112280" cy="2178072"/>
              <a:chOff x="0" y="0"/>
              <a:chExt cx="807109" cy="42748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07109" cy="427486"/>
              </a:xfrm>
              <a:custGeom>
                <a:avLst/>
                <a:gdLst/>
                <a:ahLst/>
                <a:cxnLst/>
                <a:rect l="l" t="t" r="r" b="b"/>
                <a:pathLst>
                  <a:path w="807109" h="427486">
                    <a:moveTo>
                      <a:pt x="603909" y="0"/>
                    </a:moveTo>
                    <a:cubicBezTo>
                      <a:pt x="716133" y="0"/>
                      <a:pt x="807109" y="95696"/>
                      <a:pt x="807109" y="213743"/>
                    </a:cubicBezTo>
                    <a:cubicBezTo>
                      <a:pt x="807109" y="331790"/>
                      <a:pt x="716133" y="427486"/>
                      <a:pt x="603909" y="427486"/>
                    </a:cubicBezTo>
                    <a:lnTo>
                      <a:pt x="203200" y="427486"/>
                    </a:lnTo>
                    <a:cubicBezTo>
                      <a:pt x="90976" y="427486"/>
                      <a:pt x="0" y="331790"/>
                      <a:pt x="0" y="213743"/>
                    </a:cubicBezTo>
                    <a:cubicBezTo>
                      <a:pt x="0" y="9569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37C9EF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19050"/>
                <a:ext cx="807109" cy="408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60"/>
                  </a:lnSpc>
                  <a:spcBef>
                    <a:spcPct val="0"/>
                  </a:spcBef>
                </a:pPr>
                <a:r>
                  <a:rPr lang="en-US" sz="2600" b="1" spc="78">
                    <a:solidFill>
                      <a:srgbClr val="000000"/>
                    </a:solidFill>
                    <a:latin typeface="Aileron Bold"/>
                    <a:ea typeface="Aileron Bold"/>
                    <a:cs typeface="Aileron Bold"/>
                    <a:sym typeface="Aileron Bold"/>
                  </a:rPr>
                  <a:t>ARM LENGTH</a:t>
                </a:r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4112280" y="1408795"/>
              <a:ext cx="1094272" cy="29974"/>
            </a:xfrm>
            <a:prstGeom prst="line">
              <a:avLst/>
            </a:prstGeom>
            <a:ln w="50800" cap="flat">
              <a:solidFill>
                <a:srgbClr val="86EAE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40628" y="900314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40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40628" y="2004532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42.5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40628" y="-114300"/>
              <a:ext cx="1594469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37.5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5206552" y="91370"/>
              <a:ext cx="424996" cy="42499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13" name="AutoShape 13"/>
            <p:cNvSpPr/>
            <p:nvPr/>
          </p:nvSpPr>
          <p:spPr>
            <a:xfrm flipV="1">
              <a:off x="5419050" y="516366"/>
              <a:ext cx="0" cy="685800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206552" y="1202166"/>
              <a:ext cx="424996" cy="424996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206552" y="2306384"/>
              <a:ext cx="424996" cy="424996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20" name="AutoShape 20"/>
            <p:cNvSpPr/>
            <p:nvPr/>
          </p:nvSpPr>
          <p:spPr>
            <a:xfrm flipV="1">
              <a:off x="5419050" y="2731380"/>
              <a:ext cx="0" cy="692721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21" name="AutoShape 21"/>
            <p:cNvSpPr/>
            <p:nvPr/>
          </p:nvSpPr>
          <p:spPr>
            <a:xfrm flipV="1">
              <a:off x="5419050" y="1627162"/>
              <a:ext cx="0" cy="679222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0280569" y="481771"/>
            <a:ext cx="6578720" cy="3846549"/>
            <a:chOff x="0" y="0"/>
            <a:chExt cx="8771626" cy="5128732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1445710"/>
              <a:ext cx="4112280" cy="2178072"/>
              <a:chOff x="0" y="0"/>
              <a:chExt cx="807109" cy="42748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07109" cy="427486"/>
              </a:xfrm>
              <a:custGeom>
                <a:avLst/>
                <a:gdLst/>
                <a:ahLst/>
                <a:cxnLst/>
                <a:rect l="l" t="t" r="r" b="b"/>
                <a:pathLst>
                  <a:path w="807109" h="427486">
                    <a:moveTo>
                      <a:pt x="603909" y="0"/>
                    </a:moveTo>
                    <a:cubicBezTo>
                      <a:pt x="716133" y="0"/>
                      <a:pt x="807109" y="95696"/>
                      <a:pt x="807109" y="213743"/>
                    </a:cubicBezTo>
                    <a:cubicBezTo>
                      <a:pt x="807109" y="331790"/>
                      <a:pt x="716133" y="427486"/>
                      <a:pt x="603909" y="427486"/>
                    </a:cubicBezTo>
                    <a:lnTo>
                      <a:pt x="203200" y="427486"/>
                    </a:lnTo>
                    <a:cubicBezTo>
                      <a:pt x="90976" y="427486"/>
                      <a:pt x="0" y="331790"/>
                      <a:pt x="0" y="213743"/>
                    </a:cubicBezTo>
                    <a:cubicBezTo>
                      <a:pt x="0" y="9569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37C9EF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19050"/>
                <a:ext cx="807109" cy="408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60"/>
                  </a:lnSpc>
                  <a:spcBef>
                    <a:spcPct val="0"/>
                  </a:spcBef>
                </a:pPr>
                <a:r>
                  <a:rPr lang="en-US" sz="2600" b="1" spc="78">
                    <a:solidFill>
                      <a:srgbClr val="000000"/>
                    </a:solidFill>
                    <a:latin typeface="Aileron Bold"/>
                    <a:ea typeface="Aileron Bold"/>
                    <a:cs typeface="Aileron Bold"/>
                    <a:sym typeface="Aileron Bold"/>
                  </a:rPr>
                  <a:t>ARM ANGLE</a:t>
                </a:r>
              </a:p>
            </p:txBody>
          </p:sp>
        </p:grpSp>
        <p:sp>
          <p:nvSpPr>
            <p:cNvPr id="26" name="AutoShape 26"/>
            <p:cNvSpPr/>
            <p:nvPr/>
          </p:nvSpPr>
          <p:spPr>
            <a:xfrm flipV="1">
              <a:off x="4112280" y="2518882"/>
              <a:ext cx="1201339" cy="15864"/>
            </a:xfrm>
            <a:prstGeom prst="line">
              <a:avLst/>
            </a:prstGeom>
            <a:ln w="50800" cap="flat">
              <a:solidFill>
                <a:srgbClr val="86EAE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47695" y="900314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10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47695" y="2004532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47695" y="-114300"/>
              <a:ext cx="1594469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10.5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5313619" y="91370"/>
              <a:ext cx="424996" cy="424996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33" name="AutoShape 33"/>
            <p:cNvSpPr/>
            <p:nvPr/>
          </p:nvSpPr>
          <p:spPr>
            <a:xfrm flipV="1">
              <a:off x="5526117" y="516366"/>
              <a:ext cx="0" cy="685800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313619" y="1202166"/>
              <a:ext cx="424996" cy="424996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313619" y="2306384"/>
              <a:ext cx="424996" cy="424996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40" name="AutoShape 40"/>
            <p:cNvSpPr/>
            <p:nvPr/>
          </p:nvSpPr>
          <p:spPr>
            <a:xfrm flipV="1">
              <a:off x="5526117" y="1627162"/>
              <a:ext cx="0" cy="679222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 flipV="1">
              <a:off x="5526117" y="2731380"/>
              <a:ext cx="0" cy="692721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313619" y="3404480"/>
              <a:ext cx="424996" cy="424996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6147695" y="3109432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8</a:t>
              </a:r>
            </a:p>
          </p:txBody>
        </p:sp>
        <p:sp>
          <p:nvSpPr>
            <p:cNvPr id="46" name="AutoShape 46"/>
            <p:cNvSpPr/>
            <p:nvPr/>
          </p:nvSpPr>
          <p:spPr>
            <a:xfrm flipV="1">
              <a:off x="5526117" y="3829476"/>
              <a:ext cx="0" cy="692721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5313619" y="4502576"/>
              <a:ext cx="424996" cy="424996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6147695" y="4214332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7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413926" y="8033293"/>
            <a:ext cx="318747" cy="318747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28712" y="4656361"/>
            <a:ext cx="6578720" cy="3846549"/>
            <a:chOff x="0" y="0"/>
            <a:chExt cx="8771626" cy="5128732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1445710"/>
              <a:ext cx="4112280" cy="2178072"/>
              <a:chOff x="0" y="0"/>
              <a:chExt cx="807109" cy="42748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07109" cy="427486"/>
              </a:xfrm>
              <a:custGeom>
                <a:avLst/>
                <a:gdLst/>
                <a:ahLst/>
                <a:cxnLst/>
                <a:rect l="l" t="t" r="r" b="b"/>
                <a:pathLst>
                  <a:path w="807109" h="427486">
                    <a:moveTo>
                      <a:pt x="603909" y="0"/>
                    </a:moveTo>
                    <a:cubicBezTo>
                      <a:pt x="716133" y="0"/>
                      <a:pt x="807109" y="95696"/>
                      <a:pt x="807109" y="213743"/>
                    </a:cubicBezTo>
                    <a:cubicBezTo>
                      <a:pt x="807109" y="331790"/>
                      <a:pt x="716133" y="427486"/>
                      <a:pt x="603909" y="427486"/>
                    </a:cubicBezTo>
                    <a:lnTo>
                      <a:pt x="203200" y="427486"/>
                    </a:lnTo>
                    <a:cubicBezTo>
                      <a:pt x="90976" y="427486"/>
                      <a:pt x="0" y="331790"/>
                      <a:pt x="0" y="213743"/>
                    </a:cubicBezTo>
                    <a:cubicBezTo>
                      <a:pt x="0" y="9569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37C9EF"/>
                </a:solidFill>
                <a:prstDash val="solid"/>
                <a:miter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19050"/>
                <a:ext cx="807109" cy="408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60"/>
                  </a:lnSpc>
                  <a:spcBef>
                    <a:spcPct val="0"/>
                  </a:spcBef>
                </a:pPr>
                <a:r>
                  <a:rPr lang="en-US" sz="2600" b="1" spc="78">
                    <a:solidFill>
                      <a:srgbClr val="000000"/>
                    </a:solidFill>
                    <a:latin typeface="Aileron Bold"/>
                    <a:ea typeface="Aileron Bold"/>
                    <a:cs typeface="Aileron Bold"/>
                    <a:sym typeface="Aileron Bold"/>
                  </a:rPr>
                  <a:t>FILLET RADIUS</a:t>
                </a:r>
              </a:p>
            </p:txBody>
          </p:sp>
        </p:grpSp>
        <p:sp>
          <p:nvSpPr>
            <p:cNvPr id="58" name="AutoShape 58"/>
            <p:cNvSpPr/>
            <p:nvPr/>
          </p:nvSpPr>
          <p:spPr>
            <a:xfrm flipV="1">
              <a:off x="4112280" y="2518882"/>
              <a:ext cx="1201339" cy="15864"/>
            </a:xfrm>
            <a:prstGeom prst="line">
              <a:avLst/>
            </a:prstGeom>
            <a:ln w="50800" cap="flat">
              <a:solidFill>
                <a:srgbClr val="86EAE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47695" y="900314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47695" y="2004532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147695" y="-114300"/>
              <a:ext cx="1594469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1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5313619" y="91370"/>
              <a:ext cx="424996" cy="424996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65" name="AutoShape 65"/>
            <p:cNvSpPr/>
            <p:nvPr/>
          </p:nvSpPr>
          <p:spPr>
            <a:xfrm flipV="1">
              <a:off x="5526117" y="516366"/>
              <a:ext cx="0" cy="685800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5313619" y="1202166"/>
              <a:ext cx="424996" cy="424996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5313619" y="2306384"/>
              <a:ext cx="424996" cy="424996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72" name="AutoShape 72"/>
            <p:cNvSpPr/>
            <p:nvPr/>
          </p:nvSpPr>
          <p:spPr>
            <a:xfrm flipV="1">
              <a:off x="5526117" y="1627162"/>
              <a:ext cx="0" cy="679222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3" name="AutoShape 73"/>
            <p:cNvSpPr/>
            <p:nvPr/>
          </p:nvSpPr>
          <p:spPr>
            <a:xfrm flipV="1">
              <a:off x="5526117" y="2731380"/>
              <a:ext cx="0" cy="692721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5313619" y="3404480"/>
              <a:ext cx="424996" cy="424996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77" name="TextBox 77"/>
            <p:cNvSpPr txBox="1"/>
            <p:nvPr/>
          </p:nvSpPr>
          <p:spPr>
            <a:xfrm>
              <a:off x="6147695" y="3109432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4</a:t>
              </a:r>
            </a:p>
          </p:txBody>
        </p:sp>
        <p:sp>
          <p:nvSpPr>
            <p:cNvPr id="78" name="AutoShape 78"/>
            <p:cNvSpPr/>
            <p:nvPr/>
          </p:nvSpPr>
          <p:spPr>
            <a:xfrm flipV="1">
              <a:off x="5526117" y="3829476"/>
              <a:ext cx="0" cy="692721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147695" y="4214332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5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360869" y="7876753"/>
            <a:ext cx="6498419" cy="1633554"/>
            <a:chOff x="0" y="0"/>
            <a:chExt cx="8664559" cy="2178072"/>
          </a:xfrm>
        </p:grpSpPr>
        <p:grpSp>
          <p:nvGrpSpPr>
            <p:cNvPr id="81" name="Group 81"/>
            <p:cNvGrpSpPr/>
            <p:nvPr/>
          </p:nvGrpSpPr>
          <p:grpSpPr>
            <a:xfrm>
              <a:off x="0" y="0"/>
              <a:ext cx="4112280" cy="2178072"/>
              <a:chOff x="0" y="0"/>
              <a:chExt cx="807109" cy="42748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807109" cy="427486"/>
              </a:xfrm>
              <a:custGeom>
                <a:avLst/>
                <a:gdLst/>
                <a:ahLst/>
                <a:cxnLst/>
                <a:rect l="l" t="t" r="r" b="b"/>
                <a:pathLst>
                  <a:path w="807109" h="427486">
                    <a:moveTo>
                      <a:pt x="603909" y="0"/>
                    </a:moveTo>
                    <a:cubicBezTo>
                      <a:pt x="716133" y="0"/>
                      <a:pt x="807109" y="95696"/>
                      <a:pt x="807109" y="213743"/>
                    </a:cubicBezTo>
                    <a:cubicBezTo>
                      <a:pt x="807109" y="331790"/>
                      <a:pt x="716133" y="427486"/>
                      <a:pt x="603909" y="427486"/>
                    </a:cubicBezTo>
                    <a:lnTo>
                      <a:pt x="203200" y="427486"/>
                    </a:lnTo>
                    <a:cubicBezTo>
                      <a:pt x="90976" y="427486"/>
                      <a:pt x="0" y="331790"/>
                      <a:pt x="0" y="213743"/>
                    </a:cubicBezTo>
                    <a:cubicBezTo>
                      <a:pt x="0" y="9569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37C9EF"/>
                </a:solidFill>
                <a:prstDash val="solid"/>
                <a:miter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19050"/>
                <a:ext cx="807109" cy="408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60"/>
                  </a:lnSpc>
                  <a:spcBef>
                    <a:spcPct val="0"/>
                  </a:spcBef>
                </a:pPr>
                <a:r>
                  <a:rPr lang="en-US" sz="2600" b="1" spc="78">
                    <a:solidFill>
                      <a:srgbClr val="000000"/>
                    </a:solidFill>
                    <a:latin typeface="Aileron Bold"/>
                    <a:ea typeface="Aileron Bold"/>
                    <a:cs typeface="Aileron Bold"/>
                    <a:sym typeface="Aileron Bold"/>
                  </a:rPr>
                  <a:t>OACD</a:t>
                </a:r>
              </a:p>
            </p:txBody>
          </p:sp>
        </p:grpSp>
        <p:sp>
          <p:nvSpPr>
            <p:cNvPr id="84" name="AutoShape 84"/>
            <p:cNvSpPr/>
            <p:nvPr/>
          </p:nvSpPr>
          <p:spPr>
            <a:xfrm>
              <a:off x="4112280" y="1089036"/>
              <a:ext cx="1359798" cy="0"/>
            </a:xfrm>
            <a:prstGeom prst="line">
              <a:avLst/>
            </a:prstGeom>
            <a:ln w="50800" cap="flat">
              <a:solidFill>
                <a:srgbClr val="86EAE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040628" y="1081993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5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040628" y="67379"/>
              <a:ext cx="1594469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</a:t>
              </a:r>
            </a:p>
          </p:txBody>
        </p:sp>
        <p:grpSp>
          <p:nvGrpSpPr>
            <p:cNvPr id="87" name="Group 87"/>
            <p:cNvGrpSpPr/>
            <p:nvPr/>
          </p:nvGrpSpPr>
          <p:grpSpPr>
            <a:xfrm>
              <a:off x="5206552" y="273049"/>
              <a:ext cx="424996" cy="424996"/>
              <a:chOff x="0" y="0"/>
              <a:chExt cx="812800" cy="8128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90" name="AutoShape 90"/>
            <p:cNvSpPr/>
            <p:nvPr/>
          </p:nvSpPr>
          <p:spPr>
            <a:xfrm flipV="1">
              <a:off x="5419050" y="698045"/>
              <a:ext cx="0" cy="685800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5206552" y="1383845"/>
              <a:ext cx="424996" cy="424996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</p:grpSp>
      <p:grpSp>
        <p:nvGrpSpPr>
          <p:cNvPr id="94" name="Group 94"/>
          <p:cNvGrpSpPr/>
          <p:nvPr/>
        </p:nvGrpSpPr>
        <p:grpSpPr>
          <a:xfrm>
            <a:off x="10360869" y="4946082"/>
            <a:ext cx="6498419" cy="1633554"/>
            <a:chOff x="0" y="0"/>
            <a:chExt cx="8664559" cy="2178072"/>
          </a:xfrm>
        </p:grpSpPr>
        <p:grpSp>
          <p:nvGrpSpPr>
            <p:cNvPr id="95" name="Group 95"/>
            <p:cNvGrpSpPr/>
            <p:nvPr/>
          </p:nvGrpSpPr>
          <p:grpSpPr>
            <a:xfrm>
              <a:off x="0" y="0"/>
              <a:ext cx="4112280" cy="2178072"/>
              <a:chOff x="0" y="0"/>
              <a:chExt cx="807109" cy="427486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07109" cy="427486"/>
              </a:xfrm>
              <a:custGeom>
                <a:avLst/>
                <a:gdLst/>
                <a:ahLst/>
                <a:cxnLst/>
                <a:rect l="l" t="t" r="r" b="b"/>
                <a:pathLst>
                  <a:path w="807109" h="427486">
                    <a:moveTo>
                      <a:pt x="603909" y="0"/>
                    </a:moveTo>
                    <a:cubicBezTo>
                      <a:pt x="716133" y="0"/>
                      <a:pt x="807109" y="95696"/>
                      <a:pt x="807109" y="213743"/>
                    </a:cubicBezTo>
                    <a:cubicBezTo>
                      <a:pt x="807109" y="331790"/>
                      <a:pt x="716133" y="427486"/>
                      <a:pt x="603909" y="427486"/>
                    </a:cubicBezTo>
                    <a:lnTo>
                      <a:pt x="203200" y="427486"/>
                    </a:lnTo>
                    <a:cubicBezTo>
                      <a:pt x="90976" y="427486"/>
                      <a:pt x="0" y="331790"/>
                      <a:pt x="0" y="213743"/>
                    </a:cubicBezTo>
                    <a:cubicBezTo>
                      <a:pt x="0" y="9569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37C9EF"/>
                </a:solidFill>
                <a:prstDash val="solid"/>
                <a:miter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0" y="19050"/>
                <a:ext cx="807109" cy="408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60"/>
                  </a:lnSpc>
                  <a:spcBef>
                    <a:spcPct val="0"/>
                  </a:spcBef>
                </a:pPr>
                <a:r>
                  <a:rPr lang="en-US" sz="2600" b="1" spc="78">
                    <a:solidFill>
                      <a:srgbClr val="000000"/>
                    </a:solidFill>
                    <a:latin typeface="Aileron Bold"/>
                    <a:ea typeface="Aileron Bold"/>
                    <a:cs typeface="Aileron Bold"/>
                    <a:sym typeface="Aileron Bold"/>
                  </a:rPr>
                  <a:t>INNER DIAMETER</a:t>
                </a:r>
              </a:p>
            </p:txBody>
          </p:sp>
        </p:grpSp>
        <p:sp>
          <p:nvSpPr>
            <p:cNvPr id="98" name="AutoShape 98"/>
            <p:cNvSpPr/>
            <p:nvPr/>
          </p:nvSpPr>
          <p:spPr>
            <a:xfrm>
              <a:off x="4112280" y="1089036"/>
              <a:ext cx="1359798" cy="0"/>
            </a:xfrm>
            <a:prstGeom prst="line">
              <a:avLst/>
            </a:prstGeom>
            <a:ln w="50800" cap="flat">
              <a:solidFill>
                <a:srgbClr val="86EAE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040628" y="1081993"/>
              <a:ext cx="2623931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60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040628" y="67379"/>
              <a:ext cx="1594469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3999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55</a:t>
              </a:r>
            </a:p>
          </p:txBody>
        </p:sp>
        <p:grpSp>
          <p:nvGrpSpPr>
            <p:cNvPr id="101" name="Group 101"/>
            <p:cNvGrpSpPr/>
            <p:nvPr/>
          </p:nvGrpSpPr>
          <p:grpSpPr>
            <a:xfrm>
              <a:off x="5206552" y="273049"/>
              <a:ext cx="424996" cy="424996"/>
              <a:chOff x="0" y="0"/>
              <a:chExt cx="812800" cy="81280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104" name="AutoShape 104"/>
            <p:cNvSpPr/>
            <p:nvPr/>
          </p:nvSpPr>
          <p:spPr>
            <a:xfrm flipV="1">
              <a:off x="5419050" y="698045"/>
              <a:ext cx="0" cy="685800"/>
            </a:xfrm>
            <a:prstGeom prst="line">
              <a:avLst/>
            </a:prstGeom>
            <a:ln w="50800" cap="rnd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5206552" y="1383845"/>
              <a:ext cx="424996" cy="424996"/>
              <a:chOff x="0" y="0"/>
              <a:chExt cx="812800" cy="8128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920057" y="1456729"/>
          <a:ext cx="16447885" cy="7373542"/>
        </p:xfrm>
        <a:graphic>
          <a:graphicData uri="http://schemas.openxmlformats.org/drawingml/2006/table">
            <a:tbl>
              <a:tblPr/>
              <a:tblGrid>
                <a:gridCol w="3458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2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9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5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513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43618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3EDAD8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PARAMETERS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7299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Arm Length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42.5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40.0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37.5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4735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Arm Angle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10.5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970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Inner 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60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7762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Fillet Radius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0427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OACD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3404" y="2260082"/>
            <a:ext cx="15621193" cy="2076450"/>
            <a:chOff x="0" y="0"/>
            <a:chExt cx="20828257" cy="2768600"/>
          </a:xfrm>
        </p:grpSpPr>
      </p:grp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920683"/>
              </p:ext>
            </p:extLst>
          </p:nvPr>
        </p:nvGraphicFramePr>
        <p:xfrm>
          <a:off x="1237958" y="2116107"/>
          <a:ext cx="5696240" cy="2076450"/>
        </p:xfrm>
        <a:graphic>
          <a:graphicData uri="http://schemas.openxmlformats.org/drawingml/2006/table">
            <a:tbl>
              <a:tblPr/>
              <a:tblGrid>
                <a:gridCol w="89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4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44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8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3822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O1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O2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O3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O4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O5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186128"/>
              </p:ext>
            </p:extLst>
          </p:nvPr>
        </p:nvGraphicFramePr>
        <p:xfrm>
          <a:off x="6934200" y="2116107"/>
          <a:ext cx="5696240" cy="2076450"/>
        </p:xfrm>
        <a:graphic>
          <a:graphicData uri="http://schemas.openxmlformats.org/drawingml/2006/table">
            <a:tbl>
              <a:tblPr/>
              <a:tblGrid>
                <a:gridCol w="89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4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44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8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3822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O6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O8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I1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I2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I3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409701"/>
              </p:ext>
            </p:extLst>
          </p:nvPr>
        </p:nvGraphicFramePr>
        <p:xfrm>
          <a:off x="12630441" y="2116107"/>
          <a:ext cx="4228710" cy="2076450"/>
        </p:xfrm>
        <a:graphic>
          <a:graphicData uri="http://schemas.openxmlformats.org/drawingml/2006/table">
            <a:tbl>
              <a:tblPr/>
              <a:tblGrid>
                <a:gridCol w="797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822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I4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I5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I6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I7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I8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...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54693" y="249238"/>
            <a:ext cx="10367078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INFLUENCE MATRIX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38865" y="5206925"/>
            <a:ext cx="4704275" cy="61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2"/>
              </a:lnSpc>
              <a:spcBef>
                <a:spcPct val="0"/>
              </a:spcBef>
            </a:pPr>
            <a:r>
              <a:rPr lang="en-US" sz="3630" u="sng">
                <a:solidFill>
                  <a:srgbClr val="86EAE9"/>
                </a:solidFill>
                <a:latin typeface="Lovelo"/>
                <a:ea typeface="Lovelo"/>
                <a:cs typeface="Lovelo"/>
                <a:sym typeface="Lovelo"/>
                <a:hlinkClick r:id="rId2" tooltip="https://github.com/SivaRishitha/Adaptive-Optics/blob/main/DM_MATRIX.ipynb"/>
              </a:rPr>
              <a:t>CODE</a:t>
            </a:r>
          </a:p>
        </p:txBody>
      </p:sp>
      <p:sp>
        <p:nvSpPr>
          <p:cNvPr id="8" name="Freeform 8"/>
          <p:cNvSpPr/>
          <p:nvPr/>
        </p:nvSpPr>
        <p:spPr>
          <a:xfrm>
            <a:off x="14591404" y="7844315"/>
            <a:ext cx="2667896" cy="1413985"/>
          </a:xfrm>
          <a:custGeom>
            <a:avLst/>
            <a:gdLst/>
            <a:ahLst/>
            <a:cxnLst/>
            <a:rect l="l" t="t" r="r" b="b"/>
            <a:pathLst>
              <a:path w="2667896" h="1413985">
                <a:moveTo>
                  <a:pt x="0" y="0"/>
                </a:moveTo>
                <a:lnTo>
                  <a:pt x="2667896" y="0"/>
                </a:lnTo>
                <a:lnTo>
                  <a:pt x="2667896" y="1413985"/>
                </a:lnTo>
                <a:lnTo>
                  <a:pt x="0" y="14139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51041" y="6052480"/>
            <a:ext cx="10367078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MATLAB CODE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38865" y="7907740"/>
            <a:ext cx="4704275" cy="61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2"/>
              </a:lnSpc>
              <a:spcBef>
                <a:spcPct val="0"/>
              </a:spcBef>
            </a:pPr>
            <a:r>
              <a:rPr lang="en-US" sz="3630" u="sng">
                <a:solidFill>
                  <a:srgbClr val="86EAE9"/>
                </a:solidFill>
                <a:latin typeface="Lovelo"/>
                <a:ea typeface="Lovelo"/>
                <a:cs typeface="Lovelo"/>
                <a:sym typeface="Lovelo"/>
                <a:hlinkClick r:id="rId5" tooltip="https://github.com/SivaRishitha/Adaptive-Optics/blob/main/Results.m"/>
              </a:rPr>
              <a:t>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721" y="1723381"/>
            <a:ext cx="9023772" cy="7929639"/>
          </a:xfrm>
          <a:custGeom>
            <a:avLst/>
            <a:gdLst/>
            <a:ahLst/>
            <a:cxnLst/>
            <a:rect l="l" t="t" r="r" b="b"/>
            <a:pathLst>
              <a:path w="9023772" h="7929639">
                <a:moveTo>
                  <a:pt x="0" y="0"/>
                </a:moveTo>
                <a:lnTo>
                  <a:pt x="9023772" y="0"/>
                </a:lnTo>
                <a:lnTo>
                  <a:pt x="9023772" y="7929639"/>
                </a:lnTo>
                <a:lnTo>
                  <a:pt x="0" y="792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41721" y="249238"/>
            <a:ext cx="12622834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Correlation matrix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65493" y="1647181"/>
            <a:ext cx="7979668" cy="8005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937" lvl="1" indent="-267468" algn="l">
              <a:lnSpc>
                <a:spcPts val="3716"/>
              </a:lnSpc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Feature–Output Relations:</a:t>
            </a:r>
          </a:p>
          <a:p>
            <a:pPr marL="534937" lvl="1" indent="-267468" algn="l">
              <a:lnSpc>
                <a:spcPts val="3716"/>
              </a:lnSpc>
              <a:spcBef>
                <a:spcPct val="0"/>
              </a:spcBef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InDia and arm length → strong negative correlation with several outputs.</a:t>
            </a:r>
          </a:p>
          <a:p>
            <a:pPr marL="534937" lvl="1" indent="-267468" algn="l">
              <a:lnSpc>
                <a:spcPts val="3716"/>
              </a:lnSpc>
              <a:spcBef>
                <a:spcPct val="0"/>
              </a:spcBef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OACD and Arm_angle → moderate positive correlation.</a:t>
            </a:r>
          </a:p>
          <a:p>
            <a:pPr marL="534937" lvl="1" indent="-267468" algn="l">
              <a:lnSpc>
                <a:spcPts val="3716"/>
              </a:lnSpc>
              <a:spcBef>
                <a:spcPct val="0"/>
              </a:spcBef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Fille_radius → very weak correlation (low importance).</a:t>
            </a:r>
          </a:p>
          <a:p>
            <a:pPr marL="534937" lvl="1" indent="-267468" algn="l">
              <a:lnSpc>
                <a:spcPts val="3716"/>
              </a:lnSpc>
              <a:spcBef>
                <a:spcPct val="0"/>
              </a:spcBef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Output–Output Relations:</a:t>
            </a:r>
          </a:p>
          <a:p>
            <a:pPr marL="534937" lvl="1" indent="-267468" algn="l">
              <a:lnSpc>
                <a:spcPts val="3716"/>
              </a:lnSpc>
              <a:spcBef>
                <a:spcPct val="0"/>
              </a:spcBef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5, 6, 10, 11 → highly correlated (easy to predict together).</a:t>
            </a:r>
          </a:p>
          <a:p>
            <a:pPr marL="534937" lvl="1" indent="-267468" algn="l">
              <a:lnSpc>
                <a:spcPts val="3716"/>
              </a:lnSpc>
              <a:spcBef>
                <a:spcPct val="0"/>
              </a:spcBef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12 &amp; 13 → weak correlations with inputs and other outputs → harder to predict.</a:t>
            </a:r>
          </a:p>
          <a:p>
            <a:pPr marL="534937" lvl="1" indent="-267468" algn="l">
              <a:lnSpc>
                <a:spcPts val="3716"/>
              </a:lnSpc>
              <a:spcBef>
                <a:spcPct val="0"/>
              </a:spcBef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Takeaway: Strong dependencies among some outputs can be exploited with multi-output models, while weakly correlated outputs may need additional features/engineering.</a:t>
            </a:r>
          </a:p>
          <a:p>
            <a:pPr algn="l">
              <a:lnSpc>
                <a:spcPts val="3716"/>
              </a:lnSpc>
              <a:spcBef>
                <a:spcPct val="0"/>
              </a:spcBef>
            </a:pPr>
            <a:endParaRPr lang="en-US" sz="2477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4326" y="2967833"/>
            <a:ext cx="10108864" cy="5305070"/>
          </a:xfrm>
          <a:custGeom>
            <a:avLst/>
            <a:gdLst/>
            <a:ahLst/>
            <a:cxnLst/>
            <a:rect l="l" t="t" r="r" b="b"/>
            <a:pathLst>
              <a:path w="10108864" h="5305070">
                <a:moveTo>
                  <a:pt x="0" y="0"/>
                </a:moveTo>
                <a:lnTo>
                  <a:pt x="10108863" y="0"/>
                </a:lnTo>
                <a:lnTo>
                  <a:pt x="10108863" y="5305070"/>
                </a:lnTo>
                <a:lnTo>
                  <a:pt x="0" y="5305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44" r="-628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835915" y="2618157"/>
            <a:ext cx="7286639" cy="5899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sz="3394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Why Ridge Regression?</a:t>
            </a:r>
          </a:p>
          <a:p>
            <a:pPr algn="l">
              <a:lnSpc>
                <a:spcPts val="5091"/>
              </a:lnSpc>
            </a:pPr>
            <a:r>
              <a:rPr lang="en-US" sz="3394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it minimizes  variance by adding penalty to the overfitting.</a:t>
            </a:r>
          </a:p>
          <a:p>
            <a:pPr algn="l">
              <a:lnSpc>
                <a:spcPts val="5091"/>
              </a:lnSpc>
            </a:pPr>
            <a:endParaRPr lang="en-US" sz="3394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5091"/>
              </a:lnSpc>
            </a:pPr>
            <a:r>
              <a:rPr lang="en-US" sz="3394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it minimizes</a:t>
            </a:r>
            <a:r>
              <a:rPr lang="en-US" sz="3394">
                <a:solidFill>
                  <a:srgbClr val="21BCB6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3394" b="1" i="1">
                <a:solidFill>
                  <a:srgbClr val="21BCB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bias +alpha(a) *slope^2</a:t>
            </a:r>
          </a:p>
          <a:p>
            <a:pPr algn="l">
              <a:lnSpc>
                <a:spcPts val="5091"/>
              </a:lnSpc>
            </a:pPr>
            <a:endParaRPr lang="en-US" sz="3394" b="1" i="1">
              <a:solidFill>
                <a:srgbClr val="21BCB6"/>
              </a:solidFill>
              <a:latin typeface="Aileron Bold Italics"/>
              <a:ea typeface="Aileron Bold Italics"/>
              <a:cs typeface="Aileron Bold Italics"/>
              <a:sym typeface="Aileron Bold Italics"/>
            </a:endParaRPr>
          </a:p>
          <a:p>
            <a:pPr algn="l">
              <a:lnSpc>
                <a:spcPts val="5091"/>
              </a:lnSpc>
            </a:pPr>
            <a:r>
              <a:rPr lang="en-US" sz="3394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hence, sensitivity of the model reduces which prevents overfitting.</a:t>
            </a:r>
          </a:p>
          <a:p>
            <a:pPr algn="l">
              <a:lnSpc>
                <a:spcPts val="6619"/>
              </a:lnSpc>
              <a:spcBef>
                <a:spcPct val="0"/>
              </a:spcBef>
            </a:pPr>
            <a:endParaRPr lang="en-US" sz="3394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41721" y="249238"/>
            <a:ext cx="12622834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FIRST APPROACH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1721" y="1604286"/>
            <a:ext cx="7982218" cy="873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RIDGE 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60700" y="447835"/>
          <a:ext cx="17166600" cy="9391328"/>
        </p:xfrm>
        <a:graphic>
          <a:graphicData uri="http://schemas.openxmlformats.org/drawingml/2006/table">
            <a:tbl>
              <a:tblPr/>
              <a:tblGrid>
                <a:gridCol w="385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2454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 i="1">
                          <a:solidFill>
                            <a:srgbClr val="3EDAD8"/>
                          </a:solidFill>
                          <a:latin typeface="Aileron Bold Italics"/>
                          <a:ea typeface="Aileron Bold Italics"/>
                          <a:cs typeface="Aileron Bold Italics"/>
                          <a:sym typeface="Aileron Bold Italics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 i="1">
                          <a:solidFill>
                            <a:srgbClr val="3EDAD8"/>
                          </a:solidFill>
                          <a:latin typeface="Aileron Bold Italics"/>
                          <a:ea typeface="Aileron Bold Italics"/>
                          <a:cs typeface="Aileron Bold Italics"/>
                          <a:sym typeface="Aileron Bold Italics"/>
                        </a:rPr>
                        <a:t>BIAS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 i="1">
                          <a:solidFill>
                            <a:srgbClr val="3EDAD8"/>
                          </a:solidFill>
                          <a:latin typeface="Aileron Bold Italics"/>
                          <a:ea typeface="Aileron Bold Italics"/>
                          <a:cs typeface="Aileron Bold Italics"/>
                          <a:sym typeface="Aileron Bold Italics"/>
                        </a:rPr>
                        <a:t>VARIANCE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 i="1">
                          <a:solidFill>
                            <a:srgbClr val="3EDAD8"/>
                          </a:solidFill>
                          <a:latin typeface="Aileron Bold Italics"/>
                          <a:ea typeface="Aileron Bold Italics"/>
                          <a:cs typeface="Aileron Bold Italics"/>
                          <a:sym typeface="Aileron Bold Italics"/>
                        </a:rPr>
                        <a:t>DIFFERENCE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031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Elastic - 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41.384066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72.628185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31.2441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10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Linear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57.32751951331115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89.2304366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31.9029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653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Ridge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58.267617821524766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91.59428673531225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33.3267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653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Polynomial RR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26.663680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66.126302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39.462622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9149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Polynomial RR 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17.174038016666618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106.49099166477806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89.3170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653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8.932265061060601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59.60058374819435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50.6683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7663" y="913673"/>
            <a:ext cx="7982218" cy="873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Elastic -net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7663" y="2041057"/>
            <a:ext cx="7982218" cy="873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Polynomial rr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663" y="3168441"/>
            <a:ext cx="7982218" cy="873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Linear REGRESSION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7663" y="4295824"/>
            <a:ext cx="7982218" cy="873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RIDGE REGRESSION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7663" y="5423208"/>
            <a:ext cx="7982218" cy="873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random forest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77417" y="1074320"/>
            <a:ext cx="8141576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60               37.5                 6              10               1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5213762" y="1383881"/>
            <a:ext cx="3358150" cy="1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" name="AutoShape 9"/>
          <p:cNvSpPr/>
          <p:nvPr/>
        </p:nvSpPr>
        <p:spPr>
          <a:xfrm>
            <a:off x="6425996" y="2530317"/>
            <a:ext cx="2145915" cy="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AutoShape 10"/>
          <p:cNvSpPr/>
          <p:nvPr/>
        </p:nvSpPr>
        <p:spPr>
          <a:xfrm>
            <a:off x="6771780" y="3657701"/>
            <a:ext cx="1881997" cy="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>
            <a:off x="6425996" y="4785084"/>
            <a:ext cx="2227781" cy="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AutoShape 12"/>
          <p:cNvSpPr/>
          <p:nvPr/>
        </p:nvSpPr>
        <p:spPr>
          <a:xfrm flipV="1">
            <a:off x="6060716" y="5912466"/>
            <a:ext cx="2649868" cy="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TextBox 13"/>
          <p:cNvSpPr txBox="1"/>
          <p:nvPr/>
        </p:nvSpPr>
        <p:spPr>
          <a:xfrm>
            <a:off x="9577417" y="252361"/>
            <a:ext cx="9116559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   </a:t>
            </a:r>
            <a:r>
              <a:rPr lang="en-US" sz="2999" i="1">
                <a:solidFill>
                  <a:srgbClr val="FFFFFF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In-Dia</a:t>
            </a:r>
            <a:r>
              <a:rPr lang="en-US" sz="29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       </a:t>
            </a:r>
            <a:r>
              <a:rPr lang="en-US" sz="2999" i="1">
                <a:solidFill>
                  <a:srgbClr val="FFFFFF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Arm len</a:t>
            </a:r>
            <a:r>
              <a:rPr lang="en-US" sz="29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      </a:t>
            </a:r>
            <a:r>
              <a:rPr lang="en-US" sz="2999" i="1">
                <a:solidFill>
                  <a:srgbClr val="FFFFFF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OACD </a:t>
            </a:r>
            <a:r>
              <a:rPr lang="en-US" sz="29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   </a:t>
            </a:r>
            <a:r>
              <a:rPr lang="en-US" sz="2999" i="1">
                <a:solidFill>
                  <a:srgbClr val="FFFFFF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Arm Ang</a:t>
            </a:r>
            <a:r>
              <a:rPr lang="en-US" sz="29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     </a:t>
            </a:r>
            <a:r>
              <a:rPr lang="en-US" sz="2999" i="1">
                <a:solidFill>
                  <a:srgbClr val="FFFFFF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F_r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77417" y="2220753"/>
            <a:ext cx="8141576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60               37.5                 6              10               1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77417" y="3348137"/>
            <a:ext cx="8141576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60              37.5                 4                10              5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77417" y="4491138"/>
            <a:ext cx="8141576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60              37.5                 4                10              5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77417" y="5602905"/>
            <a:ext cx="8141576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55              40.0                  5                8               3</a:t>
            </a:r>
          </a:p>
        </p:txBody>
      </p:sp>
      <p:sp>
        <p:nvSpPr>
          <p:cNvPr id="18" name="Freeform 18"/>
          <p:cNvSpPr/>
          <p:nvPr/>
        </p:nvSpPr>
        <p:spPr>
          <a:xfrm>
            <a:off x="3826657" y="7163727"/>
            <a:ext cx="14306816" cy="1549314"/>
          </a:xfrm>
          <a:custGeom>
            <a:avLst/>
            <a:gdLst/>
            <a:ahLst/>
            <a:cxnLst/>
            <a:rect l="l" t="t" r="r" b="b"/>
            <a:pathLst>
              <a:path w="14306816" h="1549314">
                <a:moveTo>
                  <a:pt x="0" y="0"/>
                </a:moveTo>
                <a:lnTo>
                  <a:pt x="14306816" y="0"/>
                </a:lnTo>
                <a:lnTo>
                  <a:pt x="14306816" y="1549314"/>
                </a:lnTo>
                <a:lnTo>
                  <a:pt x="0" y="1549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03" r="-46264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77663" y="7161715"/>
            <a:ext cx="4736098" cy="52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2"/>
              </a:lnSpc>
              <a:spcBef>
                <a:spcPct val="0"/>
              </a:spcBef>
            </a:pPr>
            <a:r>
              <a:rPr lang="en-US" sz="300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Elastic -net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7663" y="7643583"/>
            <a:ext cx="4736098" cy="52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2"/>
              </a:lnSpc>
              <a:spcBef>
                <a:spcPct val="0"/>
              </a:spcBef>
            </a:pPr>
            <a:r>
              <a:rPr lang="en-US" sz="300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Ridge Regression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7663" y="8099836"/>
            <a:ext cx="4736098" cy="52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2"/>
              </a:lnSpc>
              <a:spcBef>
                <a:spcPct val="0"/>
              </a:spcBef>
            </a:pPr>
            <a:r>
              <a:rPr lang="en-US" sz="300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Random Forest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4018" y="722066"/>
            <a:ext cx="16119310" cy="779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5"/>
              </a:lnSpc>
              <a:spcBef>
                <a:spcPct val="0"/>
              </a:spcBef>
            </a:pPr>
            <a:r>
              <a:rPr lang="en-US" sz="38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3897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nverse Prediction with Optimization</a:t>
            </a:r>
          </a:p>
          <a:p>
            <a:pPr marL="841427" lvl="1" indent="-420713" algn="l">
              <a:lnSpc>
                <a:spcPts val="5845"/>
              </a:lnSpc>
              <a:spcBef>
                <a:spcPct val="0"/>
              </a:spcBef>
              <a:buFont typeface="Arial"/>
              <a:buChar char="•"/>
            </a:pPr>
            <a:r>
              <a:rPr lang="en-US" sz="3897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Purpose</a:t>
            </a:r>
            <a:r>
              <a:rPr lang="en-US" sz="38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: Find input values (X) that produce a desired target output (Y_target).</a:t>
            </a:r>
          </a:p>
          <a:p>
            <a:pPr marL="841427" lvl="1" indent="-420713" algn="l">
              <a:lnSpc>
                <a:spcPts val="5845"/>
              </a:lnSpc>
              <a:spcBef>
                <a:spcPct val="0"/>
              </a:spcBef>
              <a:buFont typeface="Arial"/>
              <a:buChar char="•"/>
            </a:pPr>
            <a:r>
              <a:rPr lang="en-US" sz="38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Objective Function: Minimizes error = (Model Prediction – Y_target)².</a:t>
            </a:r>
          </a:p>
          <a:p>
            <a:pPr marL="841427" lvl="1" indent="-420713" algn="l">
              <a:lnSpc>
                <a:spcPts val="5845"/>
              </a:lnSpc>
              <a:spcBef>
                <a:spcPct val="0"/>
              </a:spcBef>
              <a:buFont typeface="Arial"/>
              <a:buChar char="•"/>
            </a:pPr>
            <a:r>
              <a:rPr lang="en-US" sz="38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Optimization (scipy.minimize):</a:t>
            </a:r>
          </a:p>
          <a:p>
            <a:pPr marL="1682853" lvl="2" indent="-560951" algn="l">
              <a:lnSpc>
                <a:spcPts val="5845"/>
              </a:lnSpc>
              <a:spcBef>
                <a:spcPct val="0"/>
              </a:spcBef>
              <a:buFont typeface="Arial"/>
              <a:buChar char="⚬"/>
            </a:pPr>
            <a:r>
              <a:rPr lang="en-US" sz="38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Starts from an initial guess.</a:t>
            </a:r>
          </a:p>
          <a:p>
            <a:pPr marL="1682853" lvl="2" indent="-560951" algn="l">
              <a:lnSpc>
                <a:spcPts val="5845"/>
              </a:lnSpc>
              <a:spcBef>
                <a:spcPct val="0"/>
              </a:spcBef>
              <a:buFont typeface="Arial"/>
              <a:buChar char="⚬"/>
            </a:pPr>
            <a:r>
              <a:rPr lang="en-US" sz="38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Adjusts inputs within set bounds.</a:t>
            </a:r>
          </a:p>
          <a:p>
            <a:pPr marL="1682853" lvl="2" indent="-560951" algn="l">
              <a:lnSpc>
                <a:spcPts val="5845"/>
              </a:lnSpc>
              <a:spcBef>
                <a:spcPct val="0"/>
              </a:spcBef>
              <a:buFont typeface="Arial"/>
              <a:buChar char="⚬"/>
            </a:pPr>
            <a:r>
              <a:rPr lang="en-US" sz="38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Finds the X combination that best matches Y_target.</a:t>
            </a:r>
          </a:p>
          <a:p>
            <a:pPr marL="841427" lvl="1" indent="-420713" algn="l">
              <a:lnSpc>
                <a:spcPts val="5845"/>
              </a:lnSpc>
              <a:spcBef>
                <a:spcPct val="0"/>
              </a:spcBef>
              <a:buFont typeface="Arial"/>
              <a:buChar char="•"/>
            </a:pPr>
            <a:r>
              <a:rPr lang="en-US" sz="38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Use Case: Reverse-engineering the model → “What inputs give me this output?”</a:t>
            </a:r>
          </a:p>
          <a:p>
            <a:pPr algn="l">
              <a:lnSpc>
                <a:spcPts val="3897"/>
              </a:lnSpc>
              <a:spcBef>
                <a:spcPct val="0"/>
              </a:spcBef>
            </a:pPr>
            <a:endParaRPr lang="en-US" sz="3897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84630" y="8582814"/>
            <a:ext cx="7982218" cy="87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FINAL SHAPE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42986" y="267907"/>
            <a:ext cx="14237589" cy="7749845"/>
            <a:chOff x="0" y="0"/>
            <a:chExt cx="18983452" cy="103331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01352" cy="10333127"/>
            </a:xfrm>
            <a:custGeom>
              <a:avLst/>
              <a:gdLst/>
              <a:ahLst/>
              <a:cxnLst/>
              <a:rect l="l" t="t" r="r" b="b"/>
              <a:pathLst>
                <a:path w="10401352" h="10333127">
                  <a:moveTo>
                    <a:pt x="0" y="0"/>
                  </a:moveTo>
                  <a:lnTo>
                    <a:pt x="10401352" y="0"/>
                  </a:lnTo>
                  <a:lnTo>
                    <a:pt x="10401352" y="10333127"/>
                  </a:lnTo>
                  <a:lnTo>
                    <a:pt x="0" y="10333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3455" t="-34539" r="-66276" b="-17506"/>
              </a:stretch>
            </a:blipFill>
          </p:spPr>
        </p:sp>
        <p:sp>
          <p:nvSpPr>
            <p:cNvPr id="5" name="AutoShape 5"/>
            <p:cNvSpPr/>
            <p:nvPr/>
          </p:nvSpPr>
          <p:spPr>
            <a:xfrm flipV="1">
              <a:off x="5226076" y="310146"/>
              <a:ext cx="0" cy="4879094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6" name="Freeform 6"/>
            <p:cNvSpPr/>
            <p:nvPr/>
          </p:nvSpPr>
          <p:spPr>
            <a:xfrm rot="4335104">
              <a:off x="7783798" y="2239216"/>
              <a:ext cx="715956" cy="437384"/>
            </a:xfrm>
            <a:custGeom>
              <a:avLst/>
              <a:gdLst/>
              <a:ahLst/>
              <a:cxnLst/>
              <a:rect l="l" t="t" r="r" b="b"/>
              <a:pathLst>
                <a:path w="715956" h="437384">
                  <a:moveTo>
                    <a:pt x="0" y="0"/>
                  </a:moveTo>
                  <a:lnTo>
                    <a:pt x="715956" y="0"/>
                  </a:lnTo>
                  <a:lnTo>
                    <a:pt x="715956" y="437384"/>
                  </a:lnTo>
                  <a:lnTo>
                    <a:pt x="0" y="43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AutoShape 7"/>
            <p:cNvSpPr/>
            <p:nvPr/>
          </p:nvSpPr>
          <p:spPr>
            <a:xfrm flipV="1">
              <a:off x="5226076" y="5189240"/>
              <a:ext cx="377188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8" name="AutoShape 8"/>
            <p:cNvSpPr/>
            <p:nvPr/>
          </p:nvSpPr>
          <p:spPr>
            <a:xfrm flipV="1">
              <a:off x="9899348" y="4906030"/>
              <a:ext cx="0" cy="68486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triangle" w="lg" len="med"/>
              <a:tailEnd type="arrow" w="med" len="sm"/>
            </a:ln>
          </p:spPr>
        </p:sp>
        <p:sp>
          <p:nvSpPr>
            <p:cNvPr id="9" name="Freeform 9"/>
            <p:cNvSpPr/>
            <p:nvPr/>
          </p:nvSpPr>
          <p:spPr>
            <a:xfrm rot="-3188257">
              <a:off x="8083937" y="7394085"/>
              <a:ext cx="576205" cy="352009"/>
            </a:xfrm>
            <a:custGeom>
              <a:avLst/>
              <a:gdLst/>
              <a:ahLst/>
              <a:cxnLst/>
              <a:rect l="l" t="t" r="r" b="b"/>
              <a:pathLst>
                <a:path w="576205" h="352009">
                  <a:moveTo>
                    <a:pt x="0" y="0"/>
                  </a:moveTo>
                  <a:lnTo>
                    <a:pt x="576205" y="0"/>
                  </a:lnTo>
                  <a:lnTo>
                    <a:pt x="576205" y="352009"/>
                  </a:lnTo>
                  <a:lnTo>
                    <a:pt x="0" y="352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AutoShape 10"/>
            <p:cNvSpPr/>
            <p:nvPr/>
          </p:nvSpPr>
          <p:spPr>
            <a:xfrm flipV="1">
              <a:off x="5200676" y="1014390"/>
              <a:ext cx="7134915" cy="1751619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668655" y="642942"/>
              <a:ext cx="6314797" cy="676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2"/>
                </a:lnSpc>
                <a:spcBef>
                  <a:spcPct val="0"/>
                </a:spcBef>
              </a:pPr>
              <a:r>
                <a:rPr lang="en-US" sz="3001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37.5 (Arm Length)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668655" y="2878113"/>
              <a:ext cx="6314797" cy="676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2"/>
                </a:lnSpc>
                <a:spcBef>
                  <a:spcPct val="0"/>
                </a:spcBef>
              </a:pPr>
              <a:r>
                <a:rPr lang="en-US" sz="3001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30 (Inner Radius)</a:t>
              </a:r>
            </a:p>
          </p:txBody>
        </p:sp>
        <p:sp>
          <p:nvSpPr>
            <p:cNvPr id="13" name="AutoShape 13"/>
            <p:cNvSpPr/>
            <p:nvPr/>
          </p:nvSpPr>
          <p:spPr>
            <a:xfrm flipV="1">
              <a:off x="6407318" y="3249561"/>
              <a:ext cx="5928273" cy="1917002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9921878" y="5166563"/>
              <a:ext cx="2413713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668655" y="4795116"/>
              <a:ext cx="6314797" cy="676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2"/>
                </a:lnSpc>
                <a:spcBef>
                  <a:spcPct val="0"/>
                </a:spcBef>
              </a:pPr>
              <a:r>
                <a:rPr lang="en-US" sz="3001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 (OACD)</a:t>
              </a:r>
            </a:p>
          </p:txBody>
        </p:sp>
        <p:sp>
          <p:nvSpPr>
            <p:cNvPr id="16" name="AutoShape 16"/>
            <p:cNvSpPr/>
            <p:nvPr/>
          </p:nvSpPr>
          <p:spPr>
            <a:xfrm flipV="1">
              <a:off x="8286070" y="2070516"/>
              <a:ext cx="4049521" cy="286587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668655" y="1760528"/>
              <a:ext cx="6314797" cy="676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2"/>
                </a:lnSpc>
                <a:spcBef>
                  <a:spcPct val="0"/>
                </a:spcBef>
              </a:pPr>
              <a:r>
                <a:rPr lang="en-US" sz="3001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10 (Arm Angle)</a:t>
              </a: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286070" y="7620461"/>
              <a:ext cx="4049521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668655" y="7249014"/>
              <a:ext cx="6314797" cy="676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2"/>
                </a:lnSpc>
                <a:spcBef>
                  <a:spcPct val="0"/>
                </a:spcBef>
              </a:pPr>
              <a:r>
                <a:rPr lang="en-US" sz="3001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 (Fillet Radius)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60700" y="458916"/>
          <a:ext cx="17166600" cy="9451535"/>
        </p:xfrm>
        <a:graphic>
          <a:graphicData uri="http://schemas.openxmlformats.org/drawingml/2006/table">
            <a:tbl>
              <a:tblPr/>
              <a:tblGrid>
                <a:gridCol w="801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427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INITIAL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ML Parameters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8911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420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0197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68     72.9     71     65.6</a:t>
                      </a:r>
                      <a:endParaRPr lang="en-US" sz="1100"/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                               defocus    astig45     astig0        z=17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82.58     86.3     86.98     90.31</a:t>
                      </a:r>
                      <a:endParaRPr lang="en-US" sz="1100"/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                                 defocus         astig45           astig0               z=17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752660" y="1826812"/>
            <a:ext cx="5729981" cy="5153721"/>
          </a:xfrm>
          <a:custGeom>
            <a:avLst/>
            <a:gdLst/>
            <a:ahLst/>
            <a:cxnLst/>
            <a:rect l="l" t="t" r="r" b="b"/>
            <a:pathLst>
              <a:path w="5729981" h="5153721">
                <a:moveTo>
                  <a:pt x="0" y="0"/>
                </a:moveTo>
                <a:lnTo>
                  <a:pt x="5729981" y="0"/>
                </a:lnTo>
                <a:lnTo>
                  <a:pt x="5729981" y="5153722"/>
                </a:lnTo>
                <a:lnTo>
                  <a:pt x="0" y="5153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1826812"/>
            <a:ext cx="5187749" cy="5153721"/>
          </a:xfrm>
          <a:custGeom>
            <a:avLst/>
            <a:gdLst/>
            <a:ahLst/>
            <a:cxnLst/>
            <a:rect l="l" t="t" r="r" b="b"/>
            <a:pathLst>
              <a:path w="5187749" h="5153721">
                <a:moveTo>
                  <a:pt x="0" y="0"/>
                </a:moveTo>
                <a:lnTo>
                  <a:pt x="5187749" y="0"/>
                </a:lnTo>
                <a:lnTo>
                  <a:pt x="5187749" y="5153722"/>
                </a:lnTo>
                <a:lnTo>
                  <a:pt x="0" y="5153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455" t="-34539" r="-66276" b="-17506"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11750543" y="1981500"/>
            <a:ext cx="0" cy="2433483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triangle" w="lg" len="med"/>
            <a:tailEnd type="triangle" w="lg" len="med"/>
          </a:ln>
        </p:spPr>
      </p:sp>
      <p:sp>
        <p:nvSpPr>
          <p:cNvPr id="6" name="Freeform 6"/>
          <p:cNvSpPr/>
          <p:nvPr/>
        </p:nvSpPr>
        <p:spPr>
          <a:xfrm rot="-6806489">
            <a:off x="12984636" y="2933084"/>
            <a:ext cx="357088" cy="218149"/>
          </a:xfrm>
          <a:custGeom>
            <a:avLst/>
            <a:gdLst/>
            <a:ahLst/>
            <a:cxnLst/>
            <a:rect l="l" t="t" r="r" b="b"/>
            <a:pathLst>
              <a:path w="357088" h="218149">
                <a:moveTo>
                  <a:pt x="0" y="0"/>
                </a:moveTo>
                <a:lnTo>
                  <a:pt x="357089" y="0"/>
                </a:lnTo>
                <a:lnTo>
                  <a:pt x="357089" y="218148"/>
                </a:lnTo>
                <a:lnTo>
                  <a:pt x="0" y="218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1750543" y="4414983"/>
            <a:ext cx="1881253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AutoShape 8"/>
          <p:cNvSpPr/>
          <p:nvPr/>
        </p:nvSpPr>
        <p:spPr>
          <a:xfrm flipV="1">
            <a:off x="14081371" y="4273730"/>
            <a:ext cx="0" cy="34158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triangle" w="lg" len="med"/>
            <a:tailEnd type="arrow" w="med" len="sm"/>
          </a:ln>
        </p:spPr>
      </p:sp>
      <p:sp>
        <p:nvSpPr>
          <p:cNvPr id="9" name="Freeform 9"/>
          <p:cNvSpPr/>
          <p:nvPr/>
        </p:nvSpPr>
        <p:spPr>
          <a:xfrm rot="-3188257">
            <a:off x="13175922" y="5514665"/>
            <a:ext cx="287387" cy="175567"/>
          </a:xfrm>
          <a:custGeom>
            <a:avLst/>
            <a:gdLst/>
            <a:ahLst/>
            <a:cxnLst/>
            <a:rect l="l" t="t" r="r" b="b"/>
            <a:pathLst>
              <a:path w="287387" h="175567">
                <a:moveTo>
                  <a:pt x="0" y="0"/>
                </a:moveTo>
                <a:lnTo>
                  <a:pt x="287386" y="0"/>
                </a:lnTo>
                <a:lnTo>
                  <a:pt x="287386" y="175568"/>
                </a:lnTo>
                <a:lnTo>
                  <a:pt x="0" y="175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734468" y="2180739"/>
            <a:ext cx="6877665" cy="3598841"/>
            <a:chOff x="0" y="0"/>
            <a:chExt cx="9170221" cy="4798455"/>
          </a:xfrm>
        </p:grpSpPr>
        <p:sp>
          <p:nvSpPr>
            <p:cNvPr id="11" name="AutoShape 11"/>
            <p:cNvSpPr/>
            <p:nvPr/>
          </p:nvSpPr>
          <p:spPr>
            <a:xfrm flipV="1">
              <a:off x="4542" y="202677"/>
              <a:ext cx="4744787" cy="1164843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70820" y="-47625"/>
              <a:ext cx="4199401" cy="452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4"/>
                </a:lnSpc>
                <a:spcBef>
                  <a:spcPct val="0"/>
                </a:spcBef>
              </a:pPr>
              <a:r>
                <a:rPr lang="en-US" sz="199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37.5 (Arm Length)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70820" y="1438785"/>
              <a:ext cx="4199401" cy="452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4"/>
                </a:lnSpc>
                <a:spcBef>
                  <a:spcPct val="0"/>
                </a:spcBef>
              </a:pPr>
              <a:r>
                <a:rPr lang="en-US" sz="199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30 (Inner Radius)</a:t>
              </a:r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806971" y="1689087"/>
              <a:ext cx="3942359" cy="1274825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3144187" y="2963912"/>
              <a:ext cx="1605142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70820" y="2713610"/>
              <a:ext cx="4199401" cy="452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4"/>
                </a:lnSpc>
                <a:spcBef>
                  <a:spcPct val="0"/>
                </a:spcBef>
              </a:pPr>
              <a:r>
                <a:rPr lang="en-US" sz="199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 (OACD)</a:t>
              </a:r>
            </a:p>
          </p:txBody>
        </p:sp>
        <p:sp>
          <p:nvSpPr>
            <p:cNvPr id="17" name="AutoShape 17"/>
            <p:cNvSpPr/>
            <p:nvPr/>
          </p:nvSpPr>
          <p:spPr>
            <a:xfrm flipV="1">
              <a:off x="2056359" y="905011"/>
              <a:ext cx="2692971" cy="190583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70820" y="695580"/>
              <a:ext cx="4199401" cy="452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4"/>
                </a:lnSpc>
                <a:spcBef>
                  <a:spcPct val="0"/>
                </a:spcBef>
              </a:pPr>
              <a:r>
                <a:rPr lang="en-US" sz="199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10 (Arm Angle)</a:t>
              </a: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2056359" y="4595778"/>
              <a:ext cx="2692971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70820" y="4345476"/>
              <a:ext cx="4199401" cy="452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4"/>
                </a:lnSpc>
                <a:spcBef>
                  <a:spcPct val="0"/>
                </a:spcBef>
              </a:pPr>
              <a:r>
                <a:rPr lang="en-US" sz="199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 (Fillet Radius)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3630083" y="2020676"/>
            <a:ext cx="0" cy="236445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triangle" w="lg" len="med"/>
            <a:tailEnd type="triangle" w="lg" len="med"/>
          </a:ln>
        </p:spPr>
      </p:sp>
      <p:sp>
        <p:nvSpPr>
          <p:cNvPr id="22" name="Freeform 22"/>
          <p:cNvSpPr/>
          <p:nvPr/>
        </p:nvSpPr>
        <p:spPr>
          <a:xfrm rot="1768624" flipV="1">
            <a:off x="4476980" y="3259792"/>
            <a:ext cx="350425" cy="214078"/>
          </a:xfrm>
          <a:custGeom>
            <a:avLst/>
            <a:gdLst/>
            <a:ahLst/>
            <a:cxnLst/>
            <a:rect l="l" t="t" r="r" b="b"/>
            <a:pathLst>
              <a:path w="350425" h="214078">
                <a:moveTo>
                  <a:pt x="0" y="214078"/>
                </a:moveTo>
                <a:lnTo>
                  <a:pt x="350425" y="214078"/>
                </a:lnTo>
                <a:lnTo>
                  <a:pt x="350425" y="0"/>
                </a:lnTo>
                <a:lnTo>
                  <a:pt x="0" y="0"/>
                </a:lnTo>
                <a:lnTo>
                  <a:pt x="0" y="2140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AutoShape 23"/>
          <p:cNvSpPr/>
          <p:nvPr/>
        </p:nvSpPr>
        <p:spPr>
          <a:xfrm>
            <a:off x="3630083" y="4385126"/>
            <a:ext cx="1338667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" name="AutoShape 24"/>
          <p:cNvSpPr/>
          <p:nvPr/>
        </p:nvSpPr>
        <p:spPr>
          <a:xfrm flipV="1">
            <a:off x="5858427" y="4270106"/>
            <a:ext cx="0" cy="217222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triangle" w="lg" len="med"/>
            <a:tailEnd type="arrow" w="med" len="sm"/>
          </a:ln>
        </p:spPr>
      </p:sp>
      <p:sp>
        <p:nvSpPr>
          <p:cNvPr id="25" name="Freeform 25"/>
          <p:cNvSpPr/>
          <p:nvPr/>
        </p:nvSpPr>
        <p:spPr>
          <a:xfrm rot="-3484588">
            <a:off x="4613125" y="5098538"/>
            <a:ext cx="282024" cy="172291"/>
          </a:xfrm>
          <a:custGeom>
            <a:avLst/>
            <a:gdLst/>
            <a:ahLst/>
            <a:cxnLst/>
            <a:rect l="l" t="t" r="r" b="b"/>
            <a:pathLst>
              <a:path w="282024" h="172291">
                <a:moveTo>
                  <a:pt x="0" y="0"/>
                </a:moveTo>
                <a:lnTo>
                  <a:pt x="282024" y="0"/>
                </a:lnTo>
                <a:lnTo>
                  <a:pt x="282024" y="172291"/>
                </a:lnTo>
                <a:lnTo>
                  <a:pt x="0" y="172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AutoShape 26"/>
          <p:cNvSpPr/>
          <p:nvPr/>
        </p:nvSpPr>
        <p:spPr>
          <a:xfrm flipV="1">
            <a:off x="3630083" y="2485146"/>
            <a:ext cx="2636937" cy="405396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7" name="TextBox 27"/>
          <p:cNvSpPr txBox="1"/>
          <p:nvPr/>
        </p:nvSpPr>
        <p:spPr>
          <a:xfrm>
            <a:off x="6433138" y="2285514"/>
            <a:ext cx="3149550" cy="35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42.5 (Arm Length)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33138" y="3400322"/>
            <a:ext cx="3149550" cy="35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30 (Inner Radius)</a:t>
            </a:r>
          </a:p>
        </p:txBody>
      </p:sp>
      <p:sp>
        <p:nvSpPr>
          <p:cNvPr id="29" name="AutoShape 29"/>
          <p:cNvSpPr/>
          <p:nvPr/>
        </p:nvSpPr>
        <p:spPr>
          <a:xfrm flipV="1">
            <a:off x="4139214" y="3599954"/>
            <a:ext cx="2127806" cy="785172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30" name="AutoShape 30"/>
          <p:cNvSpPr/>
          <p:nvPr/>
        </p:nvSpPr>
        <p:spPr>
          <a:xfrm>
            <a:off x="5858427" y="4378717"/>
            <a:ext cx="408593" cy="177356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31" name="TextBox 31"/>
          <p:cNvSpPr txBox="1"/>
          <p:nvPr/>
        </p:nvSpPr>
        <p:spPr>
          <a:xfrm>
            <a:off x="6433138" y="4356440"/>
            <a:ext cx="3149550" cy="35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  (OACD)</a:t>
            </a:r>
          </a:p>
        </p:txBody>
      </p:sp>
      <p:sp>
        <p:nvSpPr>
          <p:cNvPr id="32" name="AutoShape 32"/>
          <p:cNvSpPr/>
          <p:nvPr/>
        </p:nvSpPr>
        <p:spPr>
          <a:xfrm flipV="1">
            <a:off x="4554600" y="3011897"/>
            <a:ext cx="1712420" cy="408932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33" name="TextBox 33"/>
          <p:cNvSpPr txBox="1"/>
          <p:nvPr/>
        </p:nvSpPr>
        <p:spPr>
          <a:xfrm>
            <a:off x="6433138" y="2842918"/>
            <a:ext cx="3149550" cy="35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8 (Arm Angle)</a:t>
            </a:r>
          </a:p>
        </p:txBody>
      </p:sp>
      <p:sp>
        <p:nvSpPr>
          <p:cNvPr id="34" name="AutoShape 34"/>
          <p:cNvSpPr/>
          <p:nvPr/>
        </p:nvSpPr>
        <p:spPr>
          <a:xfrm>
            <a:off x="4678353" y="5249436"/>
            <a:ext cx="1588667" cy="530536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35" name="TextBox 35"/>
          <p:cNvSpPr txBox="1"/>
          <p:nvPr/>
        </p:nvSpPr>
        <p:spPr>
          <a:xfrm>
            <a:off x="6433138" y="5580340"/>
            <a:ext cx="3149550" cy="35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 (Fillet Radius)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6760" y="7731043"/>
            <a:ext cx="1979383" cy="41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3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ACCURACIES :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00938" y="7731043"/>
            <a:ext cx="1979383" cy="41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3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ACCURACIES :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7226" y="1357475"/>
            <a:ext cx="17293548" cy="4412286"/>
            <a:chOff x="0" y="0"/>
            <a:chExt cx="23058063" cy="5883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84289" cy="5883048"/>
            </a:xfrm>
            <a:custGeom>
              <a:avLst/>
              <a:gdLst/>
              <a:ahLst/>
              <a:cxnLst/>
              <a:rect l="l" t="t" r="r" b="b"/>
              <a:pathLst>
                <a:path w="7884289" h="5883048">
                  <a:moveTo>
                    <a:pt x="0" y="0"/>
                  </a:moveTo>
                  <a:lnTo>
                    <a:pt x="7884289" y="0"/>
                  </a:lnTo>
                  <a:lnTo>
                    <a:pt x="7884289" y="5883048"/>
                  </a:lnTo>
                  <a:lnTo>
                    <a:pt x="0" y="588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884289" y="0"/>
              <a:ext cx="7693216" cy="5883048"/>
            </a:xfrm>
            <a:custGeom>
              <a:avLst/>
              <a:gdLst/>
              <a:ahLst/>
              <a:cxnLst/>
              <a:rect l="l" t="t" r="r" b="b"/>
              <a:pathLst>
                <a:path w="7693216" h="5883048">
                  <a:moveTo>
                    <a:pt x="0" y="0"/>
                  </a:moveTo>
                  <a:lnTo>
                    <a:pt x="7693216" y="0"/>
                  </a:lnTo>
                  <a:lnTo>
                    <a:pt x="7693216" y="5883048"/>
                  </a:lnTo>
                  <a:lnTo>
                    <a:pt x="0" y="588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5577505" y="0"/>
              <a:ext cx="7480558" cy="5883048"/>
            </a:xfrm>
            <a:custGeom>
              <a:avLst/>
              <a:gdLst/>
              <a:ahLst/>
              <a:cxnLst/>
              <a:rect l="l" t="t" r="r" b="b"/>
              <a:pathLst>
                <a:path w="7480558" h="5883048">
                  <a:moveTo>
                    <a:pt x="0" y="0"/>
                  </a:moveTo>
                  <a:lnTo>
                    <a:pt x="7480558" y="0"/>
                  </a:lnTo>
                  <a:lnTo>
                    <a:pt x="7480558" y="5883048"/>
                  </a:lnTo>
                  <a:lnTo>
                    <a:pt x="0" y="588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152891" y="6792984"/>
            <a:ext cx="7982218" cy="87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DeFOCUS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52891" y="7672725"/>
            <a:ext cx="7982218" cy="87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82.58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8843" y="1028700"/>
            <a:ext cx="17190314" cy="4276511"/>
            <a:chOff x="0" y="0"/>
            <a:chExt cx="22920419" cy="5702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37821" cy="5702015"/>
            </a:xfrm>
            <a:custGeom>
              <a:avLst/>
              <a:gdLst/>
              <a:ahLst/>
              <a:cxnLst/>
              <a:rect l="l" t="t" r="r" b="b"/>
              <a:pathLst>
                <a:path w="7837821" h="5702015">
                  <a:moveTo>
                    <a:pt x="0" y="0"/>
                  </a:moveTo>
                  <a:lnTo>
                    <a:pt x="7837821" y="0"/>
                  </a:lnTo>
                  <a:lnTo>
                    <a:pt x="7837821" y="5702015"/>
                  </a:lnTo>
                  <a:lnTo>
                    <a:pt x="0" y="5702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837821" y="0"/>
              <a:ext cx="7679482" cy="5702015"/>
            </a:xfrm>
            <a:custGeom>
              <a:avLst/>
              <a:gdLst/>
              <a:ahLst/>
              <a:cxnLst/>
              <a:rect l="l" t="t" r="r" b="b"/>
              <a:pathLst>
                <a:path w="7679482" h="5702015">
                  <a:moveTo>
                    <a:pt x="0" y="0"/>
                  </a:moveTo>
                  <a:lnTo>
                    <a:pt x="7679482" y="0"/>
                  </a:lnTo>
                  <a:lnTo>
                    <a:pt x="7679482" y="5702015"/>
                  </a:lnTo>
                  <a:lnTo>
                    <a:pt x="0" y="5702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5517303" y="0"/>
              <a:ext cx="7403116" cy="5702015"/>
            </a:xfrm>
            <a:custGeom>
              <a:avLst/>
              <a:gdLst/>
              <a:ahLst/>
              <a:cxnLst/>
              <a:rect l="l" t="t" r="r" b="b"/>
              <a:pathLst>
                <a:path w="7403116" h="5702015">
                  <a:moveTo>
                    <a:pt x="0" y="0"/>
                  </a:moveTo>
                  <a:lnTo>
                    <a:pt x="7403116" y="0"/>
                  </a:lnTo>
                  <a:lnTo>
                    <a:pt x="7403116" y="5702015"/>
                  </a:lnTo>
                  <a:lnTo>
                    <a:pt x="0" y="5702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021189" y="6435508"/>
            <a:ext cx="7982218" cy="87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ASTIG 45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1189" y="7559838"/>
            <a:ext cx="7982218" cy="87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86.3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2706" y="1158219"/>
            <a:ext cx="16862588" cy="4369034"/>
            <a:chOff x="0" y="0"/>
            <a:chExt cx="22483450" cy="58253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04152" cy="5825379"/>
            </a:xfrm>
            <a:custGeom>
              <a:avLst/>
              <a:gdLst/>
              <a:ahLst/>
              <a:cxnLst/>
              <a:rect l="l" t="t" r="r" b="b"/>
              <a:pathLst>
                <a:path w="7704152" h="5825379">
                  <a:moveTo>
                    <a:pt x="0" y="0"/>
                  </a:moveTo>
                  <a:lnTo>
                    <a:pt x="7704152" y="0"/>
                  </a:lnTo>
                  <a:lnTo>
                    <a:pt x="7704152" y="5825379"/>
                  </a:lnTo>
                  <a:lnTo>
                    <a:pt x="0" y="5825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704152" y="0"/>
              <a:ext cx="7673746" cy="5825379"/>
            </a:xfrm>
            <a:custGeom>
              <a:avLst/>
              <a:gdLst/>
              <a:ahLst/>
              <a:cxnLst/>
              <a:rect l="l" t="t" r="r" b="b"/>
              <a:pathLst>
                <a:path w="7673746" h="5825379">
                  <a:moveTo>
                    <a:pt x="0" y="0"/>
                  </a:moveTo>
                  <a:lnTo>
                    <a:pt x="7673746" y="0"/>
                  </a:lnTo>
                  <a:lnTo>
                    <a:pt x="7673746" y="5825379"/>
                  </a:lnTo>
                  <a:lnTo>
                    <a:pt x="0" y="5825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193" b="-1193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5377898" y="0"/>
              <a:ext cx="7105553" cy="5825379"/>
            </a:xfrm>
            <a:custGeom>
              <a:avLst/>
              <a:gdLst/>
              <a:ahLst/>
              <a:cxnLst/>
              <a:rect l="l" t="t" r="r" b="b"/>
              <a:pathLst>
                <a:path w="7105553" h="5825379">
                  <a:moveTo>
                    <a:pt x="0" y="0"/>
                  </a:moveTo>
                  <a:lnTo>
                    <a:pt x="7105552" y="0"/>
                  </a:lnTo>
                  <a:lnTo>
                    <a:pt x="7105552" y="5825379"/>
                  </a:lnTo>
                  <a:lnTo>
                    <a:pt x="0" y="5825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021189" y="6435508"/>
            <a:ext cx="7982218" cy="87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ASTIG 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1189" y="7559838"/>
            <a:ext cx="7982218" cy="87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86.98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8294" y="1179216"/>
            <a:ext cx="16931413" cy="4457151"/>
            <a:chOff x="0" y="0"/>
            <a:chExt cx="22575217" cy="59428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81663" cy="5942868"/>
            </a:xfrm>
            <a:custGeom>
              <a:avLst/>
              <a:gdLst/>
              <a:ahLst/>
              <a:cxnLst/>
              <a:rect l="l" t="t" r="r" b="b"/>
              <a:pathLst>
                <a:path w="7681663" h="5942868">
                  <a:moveTo>
                    <a:pt x="0" y="0"/>
                  </a:moveTo>
                  <a:lnTo>
                    <a:pt x="7681663" y="0"/>
                  </a:lnTo>
                  <a:lnTo>
                    <a:pt x="7681663" y="5942868"/>
                  </a:lnTo>
                  <a:lnTo>
                    <a:pt x="0" y="5942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681663" y="0"/>
              <a:ext cx="7665087" cy="5942868"/>
            </a:xfrm>
            <a:custGeom>
              <a:avLst/>
              <a:gdLst/>
              <a:ahLst/>
              <a:cxnLst/>
              <a:rect l="l" t="t" r="r" b="b"/>
              <a:pathLst>
                <a:path w="7665087" h="5942868">
                  <a:moveTo>
                    <a:pt x="0" y="0"/>
                  </a:moveTo>
                  <a:lnTo>
                    <a:pt x="7665086" y="0"/>
                  </a:lnTo>
                  <a:lnTo>
                    <a:pt x="7665086" y="5942868"/>
                  </a:lnTo>
                  <a:lnTo>
                    <a:pt x="0" y="5942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5346749" y="0"/>
              <a:ext cx="7228468" cy="5942868"/>
            </a:xfrm>
            <a:custGeom>
              <a:avLst/>
              <a:gdLst/>
              <a:ahLst/>
              <a:cxnLst/>
              <a:rect l="l" t="t" r="r" b="b"/>
              <a:pathLst>
                <a:path w="7228468" h="5942868">
                  <a:moveTo>
                    <a:pt x="0" y="0"/>
                  </a:moveTo>
                  <a:lnTo>
                    <a:pt x="7228468" y="0"/>
                  </a:lnTo>
                  <a:lnTo>
                    <a:pt x="7228468" y="5942868"/>
                  </a:lnTo>
                  <a:lnTo>
                    <a:pt x="0" y="5942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021189" y="6435508"/>
            <a:ext cx="7982218" cy="87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Z = 17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1189" y="7559838"/>
            <a:ext cx="7982218" cy="87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2"/>
              </a:lnSpc>
              <a:spcBef>
                <a:spcPct val="0"/>
              </a:spcBef>
            </a:pPr>
            <a:r>
              <a:rPr lang="en-US" sz="505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90.31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0149" y="4326170"/>
            <a:ext cx="13247703" cy="145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54"/>
              </a:lnSpc>
              <a:spcBef>
                <a:spcPct val="0"/>
              </a:spcBef>
            </a:pPr>
            <a:r>
              <a:rPr lang="en-US" sz="8396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563</Words>
  <Application>Microsoft Office PowerPoint</Application>
  <PresentationFormat>Custom</PresentationFormat>
  <Paragraphs>206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Arimo</vt:lpstr>
      <vt:lpstr>Canva Sans Bold</vt:lpstr>
      <vt:lpstr>Arimo Bold</vt:lpstr>
      <vt:lpstr>Aileron Bold Italics</vt:lpstr>
      <vt:lpstr>Calibri</vt:lpstr>
      <vt:lpstr>Aileron</vt:lpstr>
      <vt:lpstr>Canva Sans</vt:lpstr>
      <vt:lpstr>Aileron Bold</vt:lpstr>
      <vt:lpstr>Lovelo</vt:lpstr>
      <vt:lpstr>Aileron Italics</vt:lpstr>
      <vt:lpstr>Glacial Indifference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Deformable</dc:title>
  <cp:lastModifiedBy>REETHIKA PRASANNA V</cp:lastModifiedBy>
  <cp:revision>4</cp:revision>
  <dcterms:created xsi:type="dcterms:W3CDTF">2006-08-16T00:00:00Z</dcterms:created>
  <dcterms:modified xsi:type="dcterms:W3CDTF">2025-09-02T19:40:31Z</dcterms:modified>
  <dc:identifier>DAGxc1t15KU</dc:identifier>
</cp:coreProperties>
</file>